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Tomorrow"/>
      <p:regular r:id="rId16"/>
      <p:bold r:id="rId17"/>
      <p:italic r:id="rId18"/>
      <p:boldItalic r:id="rId19"/>
    </p:embeddedFont>
    <p:embeddedFont>
      <p:font typeface="Tomorrow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SemiBold-regular.fntdata"/><Relationship Id="rId11" Type="http://schemas.openxmlformats.org/officeDocument/2006/relationships/slide" Target="slides/slide7.xml"/><Relationship Id="rId22" Type="http://schemas.openxmlformats.org/officeDocument/2006/relationships/font" Target="fonts/TomorrowSemiBold-italic.fntdata"/><Relationship Id="rId10" Type="http://schemas.openxmlformats.org/officeDocument/2006/relationships/slide" Target="slides/slide6.xml"/><Relationship Id="rId21" Type="http://schemas.openxmlformats.org/officeDocument/2006/relationships/font" Target="fonts/TomorrowSemiBo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Tomorrow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Tomorrow-bold.fntdata"/><Relationship Id="rId16" Type="http://schemas.openxmlformats.org/officeDocument/2006/relationships/font" Target="fonts/Tomorrow-regular.fntdata"/><Relationship Id="rId5" Type="http://schemas.openxmlformats.org/officeDocument/2006/relationships/slide" Target="slides/slide1.xml"/><Relationship Id="rId19" Type="http://schemas.openxmlformats.org/officeDocument/2006/relationships/font" Target="fonts/Tomorrow-boldItalic.fntdata"/><Relationship Id="rId6" Type="http://schemas.openxmlformats.org/officeDocument/2006/relationships/slide" Target="slides/slide2.xml"/><Relationship Id="rId18" Type="http://schemas.openxmlformats.org/officeDocument/2006/relationships/font" Target="fonts/Tomorrow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1ad0394ae_1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f1ad0394ae_1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f1ad0394ae_1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1ad0394ae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f1ad0394ae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f1ad0394ae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1ad0394ae_1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1ad0394ae_1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f1ad0394ae_1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193916966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193916966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193916966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193916966_5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193916966_5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f193916966_5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1a5cd9fb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1a5cd9fb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f1a5cd9fb8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93916966_5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193916966_5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193916966_5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e578182f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e578182f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e578182f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1ad0394ae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1ad0394ae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1ad0394ae_1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e578182f9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e578182f9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e578182f9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e578182f9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e578182f9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e578182f9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496119" y="1715914"/>
            <a:ext cx="4722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750"/>
              <a:buFont typeface="Tomorrow SemiBold"/>
              <a:buNone/>
            </a:pPr>
            <a:r>
              <a:rPr b="0" i="0" lang="en-US" sz="27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1929 vs 2008: Vista de forma Estatística  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6119" y="2814489"/>
            <a:ext cx="4722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Comparando as maiores crises sistémicas da história financeira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1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Gabriel Carvalho Siqueira &amp; Pedro Alex Lima Martins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/>
        </p:nvSpPr>
        <p:spPr>
          <a:xfrm>
            <a:off x="2121025" y="1080550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242275" y="729950"/>
            <a:ext cx="67719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Metodologia: como investigamos as duas crises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496125" y="1494075"/>
            <a:ext cx="4005000" cy="3428700"/>
          </a:xfrm>
          <a:prstGeom prst="roundRect">
            <a:avLst>
              <a:gd fmla="val 2038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637877" y="1635844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lang="en-US" sz="135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Coleta dos Dados: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t/>
            </a:r>
            <a:endParaRPr sz="135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37875" y="1942349"/>
            <a:ext cx="37215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●"/>
            </a:pP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Utilizamos a biblioteca </a:t>
            </a:r>
            <a:r>
              <a:rPr b="1" i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quantmod 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do R para coleta de dados e realização dos cálculos. A ferramenta permite a integração direta com o </a:t>
            </a:r>
            <a:r>
              <a:rPr b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Yahoo Finance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para obtenção das informações de mercado.</a:t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-29845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●"/>
            </a:pP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S&amp;P500: Principal índice do mercado acionário dos Estados Unidos, composto por 500 das maiores empresas de capital aberto, criado em 1957. </a:t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-29845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●"/>
            </a:pP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Utilizamos a biblioteca </a:t>
            </a:r>
            <a:r>
              <a:rPr b="1" i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PerformanceAnalytics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do R para análise de risco financeiro, permitindo o cálculo de métricas como </a:t>
            </a:r>
            <a:r>
              <a:rPr b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VaR 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 </a:t>
            </a:r>
            <a:r>
              <a:rPr b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CVaR 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partir dos retornos de mercado.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t/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t/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693225" y="1494038"/>
            <a:ext cx="4005000" cy="3428700"/>
          </a:xfrm>
          <a:prstGeom prst="roundRect">
            <a:avLst>
              <a:gd fmla="val 2038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834975" y="1635800"/>
            <a:ext cx="2100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lang="en-US" sz="135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Critérios da Análise:</a:t>
            </a:r>
            <a:endParaRPr sz="135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834975" y="1919162"/>
            <a:ext cx="37215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●"/>
            </a:pPr>
            <a:r>
              <a:rPr b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Como utilizar o S&amp;P 500 em uma crise anterior à sua criação?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Os dados de 1929 são provenientes de uma reconstrução histórica da série do S&amp;P 500, realizada com metodologias de ajuste e validação, permitindo comparações estatísticas entre crises de diferentes períodos. </a:t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-2984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●"/>
            </a:pPr>
            <a:r>
              <a:rPr b="1"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Como foram definidas as “janelas” das crises? </a:t>
            </a: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janelas foram estabelecidas de forma a contemplar as diferentes fases de cada crise: início, período de maior impacto e recuperação, permitindo uma análise completa do comportamento dos mercados durante os eventos.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t/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t/>
            </a:r>
            <a:endParaRPr sz="110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280848" y="672175"/>
            <a:ext cx="5223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150"/>
              <a:buFont typeface="Tomorrow SemiBold"/>
              <a:buNone/>
            </a:pPr>
            <a:r>
              <a:rPr lang="en-US" sz="2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1929 vs 2008, um mesmo padrão? 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79625" y="1176025"/>
            <a:ext cx="40530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duas maiores crises </a:t>
            </a: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sistêmicas</a:t>
            </a: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do capitalismo financeiro — a </a:t>
            </a:r>
            <a:r>
              <a:rPr b="1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Grande Depressão</a:t>
            </a: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e a </a:t>
            </a:r>
            <a:r>
              <a:rPr b="1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Crise Subprime</a:t>
            </a: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— separadas por 80 anos, mas com padrões que merecem comparação rigorosa.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635" y="2618837"/>
            <a:ext cx="166093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997972" y="2615432"/>
            <a:ext cx="2780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 SemiBold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Anatomia semelhante?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997975" y="2874013"/>
            <a:ext cx="29178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lang="en-US" sz="11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duas crises se comportaram da mesma forma?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994620" y="3469607"/>
            <a:ext cx="2780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 SemiBold"/>
              <a:buNone/>
            </a:pPr>
            <a:r>
              <a:rPr lang="en-US" sz="13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Impacto diário e volatilidade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994621" y="3694477"/>
            <a:ext cx="2783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lang="en-US" sz="11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Qual crise teve o pior dia? Qual delas foi a mais instável?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958" y="3500341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627" y="4287418"/>
            <a:ext cx="166093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997980" y="4284009"/>
            <a:ext cx="27801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 SemiBold"/>
              <a:buNone/>
            </a:pPr>
            <a:r>
              <a:rPr lang="en-US" sz="13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Moderna Teoria de Finanças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997977" y="4508886"/>
            <a:ext cx="2780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lang="en-US" sz="11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duas crises tiveram uma Distribuição normal?</a:t>
            </a:r>
            <a:endParaRPr sz="11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625" y="0"/>
            <a:ext cx="3912375" cy="261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1625" y="2614837"/>
            <a:ext cx="3912374" cy="252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/>
        </p:nvSpPr>
        <p:spPr>
          <a:xfrm>
            <a:off x="2121025" y="1537750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242275" y="729950"/>
            <a:ext cx="44337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Parecidas na história, diferentes nos dados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350575" y="1589750"/>
            <a:ext cx="48516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Teste de Kolmogorov-Smirnov:</a:t>
            </a:r>
            <a:b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Hipótese nula (H₀):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As distribuições dos retornos em 1929 e 2008 são equivalentes.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Resultado do teste: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D = 0,1164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p-valor = 2,907 × 10⁻⁹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Conclusão: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 hipótese de igualdade das distribuições é rejeitada.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duas crises possuem comportamentos estatisticamente distintos.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t/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descr="preencoded.png"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21487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0631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9775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1675" y="1282343"/>
            <a:ext cx="4433699" cy="2578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/>
        </p:nvSpPr>
        <p:spPr>
          <a:xfrm>
            <a:off x="242275" y="729950"/>
            <a:ext cx="44337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Duas crises, diferentes níveis de instabilidade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350575" y="1589750"/>
            <a:ext cx="55494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Teste de Wilcoxon:</a:t>
            </a:r>
            <a:b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Hipótese nula (H₀):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As duas crises possuem a mesma mediana. 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t/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t/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Resultado do teste: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 = 1111866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p-valor = 0.4786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Conclusão: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hipótese nula de igualdade das medianas não foi rejeitada. Portanto, não há evidências de diferença significativa entre o centro das duas crises, indicando comportamento semelhante quanto à mediana. 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t/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descr="preencoded.png"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21487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0631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9775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875" y="1282333"/>
            <a:ext cx="4433699" cy="257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/>
        </p:nvSpPr>
        <p:spPr>
          <a:xfrm>
            <a:off x="242275" y="729950"/>
            <a:ext cx="44337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Duas crises, diferentes níveis de instabilidade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350575" y="1589750"/>
            <a:ext cx="50652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Teste de Levene:</a:t>
            </a:r>
            <a:b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Hipótese nula (H₀):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duas crises possuem a mesma variância.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Resultado do teste: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 = </a:t>
            </a: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158.98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p-valor = &lt; 2.2e-16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Conclusão: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hipótese de igualdade das variâncias foi rejeitada. Assim, as duas crises apresentam dispersões estatisticamente diferentes. </a:t>
            </a:r>
            <a:endParaRPr/>
          </a:p>
        </p:txBody>
      </p:sp>
      <p:pic>
        <p:nvPicPr>
          <p:cNvPr descr="preencoded.png"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21487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" name="Google Shape;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0631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9775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025" y="1282337"/>
            <a:ext cx="4433699" cy="2578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/>
        </p:nvSpPr>
        <p:spPr>
          <a:xfrm>
            <a:off x="242275" y="729950"/>
            <a:ext cx="44337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Normalidade: uma hipótese válida para períodos de crise?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350575" y="1589750"/>
            <a:ext cx="49641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Teste de Jarque-Bera:</a:t>
            </a:r>
            <a:b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Hipótese nula (H₀):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 distribuições  das duas crises não diferem significativamente de uma distribuição normal. 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Resultado do teste: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X-squared = 1148.7, df = 2, p-valor &lt; 2.2e-16  (1929)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X-squared = 3888.8, df = 2, p-valor &lt; 2.2e-16 (2008)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Conclusão:</a:t>
            </a:r>
            <a:b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hipótese de normalidade foi rejeitada, indicando que as distribuições das duas crises apresentam desvios significativos em relação a uma distribuição normal. 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descr="preencoded.png" id="95" name="Google Shape;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21487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0631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21" y="3977572"/>
            <a:ext cx="166093" cy="16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300" y="1282337"/>
            <a:ext cx="4433699" cy="2578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/>
        </p:nvSpPr>
        <p:spPr>
          <a:xfrm>
            <a:off x="432000" y="490100"/>
            <a:ext cx="828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 tamanho da queda: qual crise apresentou maior risco?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 txBox="1"/>
          <p:nvPr/>
        </p:nvSpPr>
        <p:spPr>
          <a:xfrm>
            <a:off x="564900" y="1589750"/>
            <a:ext cx="8014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 95% de confiança, o </a:t>
            </a: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VaR</a:t>
            </a: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indica a perda máxima esperada num dia normal de crise; o </a:t>
            </a:r>
            <a:r>
              <a:rPr b="1"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CVaR</a:t>
            </a: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mede a perda média nos dias mais extremos — a verdadeira "cauda" do risco.</a:t>
            </a:r>
            <a:endParaRPr b="1"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496057" y="2588309"/>
            <a:ext cx="8151900" cy="1238400"/>
          </a:xfrm>
          <a:prstGeom prst="roundRect">
            <a:avLst>
              <a:gd fmla="val 1717" name="adj"/>
            </a:avLst>
          </a:prstGeom>
          <a:noFill/>
          <a:ln cap="flat" cmpd="sng" w="9525">
            <a:solidFill>
              <a:srgbClr val="FFFFFF">
                <a:alpha val="239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944677" y="2682889"/>
            <a:ext cx="2939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1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Métrica (95% Confiança)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3715410" y="2682889"/>
            <a:ext cx="2855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1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Grande Depressão (1929)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6402277" y="2682889"/>
            <a:ext cx="2858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1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Crise Subprime (2008)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944677" y="3094101"/>
            <a:ext cx="2939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1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VaR</a:t>
            </a: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— Fronteira da Perda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4172610" y="3094101"/>
            <a:ext cx="2855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−3,96%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6859477" y="3094101"/>
            <a:ext cx="2858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−2,47%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944677" y="3505313"/>
            <a:ext cx="2939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1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CVaR</a:t>
            </a: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— Perda Extrema Média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4172610" y="3505313"/>
            <a:ext cx="2855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−5,76%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6859477" y="3505313"/>
            <a:ext cx="2858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−3,95%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/>
        </p:nvSpPr>
        <p:spPr>
          <a:xfrm>
            <a:off x="2121025" y="1461550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242275" y="1875075"/>
            <a:ext cx="4327800" cy="3136200"/>
          </a:xfrm>
          <a:prstGeom prst="roundRect">
            <a:avLst>
              <a:gd fmla="val 2038" name="adj"/>
            </a:avLst>
          </a:prstGeom>
          <a:solidFill>
            <a:srgbClr val="2727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25" y="2188163"/>
            <a:ext cx="4327699" cy="251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4736500" y="1878650"/>
            <a:ext cx="4327800" cy="3136200"/>
          </a:xfrm>
          <a:prstGeom prst="roundRect">
            <a:avLst>
              <a:gd fmla="val 2038" name="adj"/>
            </a:avLst>
          </a:prstGeom>
          <a:solidFill>
            <a:srgbClr val="2727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50" y="2188170"/>
            <a:ext cx="4327685" cy="251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 txBox="1"/>
          <p:nvPr/>
        </p:nvSpPr>
        <p:spPr>
          <a:xfrm>
            <a:off x="432000" y="490100"/>
            <a:ext cx="828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 tamanho da queda: qual crise apresentou maior risco?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564900" y="1056350"/>
            <a:ext cx="8014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 Maximum Drawdown mostra que a crise de 1929 foi mais severa e prolongada, com maior perda de capital. Já 2008 teve um choque forte, mas com recuperação mais rápida e menor tempo de destruição de valor.</a:t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t/>
            </a:r>
            <a:endParaRPr sz="125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/>
        </p:nvSpPr>
        <p:spPr>
          <a:xfrm>
            <a:off x="432000" y="718700"/>
            <a:ext cx="82800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Conclusões: duas crises, diferentes padrões de comportamento 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496119" y="1951286"/>
            <a:ext cx="4005000" cy="1043700"/>
          </a:xfrm>
          <a:prstGeom prst="roundRect">
            <a:avLst>
              <a:gd fmla="val 2038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637877" y="2093044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Risco Extremo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637877" y="2399556"/>
            <a:ext cx="3721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1929 foi mais severa: CVaR de −5,76% vs −3,95% em 2008.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642842" y="1951286"/>
            <a:ext cx="4005000" cy="1043700"/>
          </a:xfrm>
          <a:prstGeom prst="roundRect">
            <a:avLst>
              <a:gd fmla="val 2038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4784601" y="2093044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Dia a Dia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4784601" y="2399556"/>
            <a:ext cx="3721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Quedas medianas semelhantes — Wilcoxon confirma identidade estatística no centro.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496119" y="3136702"/>
            <a:ext cx="4005000" cy="1043700"/>
          </a:xfrm>
          <a:prstGeom prst="roundRect">
            <a:avLst>
              <a:gd fmla="val 2038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637874" y="3278450"/>
            <a:ext cx="2617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 SemiBold"/>
              <a:buNone/>
            </a:pPr>
            <a:r>
              <a:rPr lang="en-US" sz="13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Moderna Teoria de Finanças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t/>
            </a:r>
            <a:endParaRPr sz="135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637877" y="3584972"/>
            <a:ext cx="3721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lang="en-US" sz="11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Em períodos de crise, os mercados apresentam riscos maiores que os previstos pela teoria tradicional.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4642842" y="3136702"/>
            <a:ext cx="4005000" cy="1043700"/>
          </a:xfrm>
          <a:prstGeom prst="roundRect">
            <a:avLst>
              <a:gd fmla="val 2038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4784601" y="3278460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Lição Central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4784601" y="3584972"/>
            <a:ext cx="3721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 verdadeiro perigo reside nas </a:t>
            </a:r>
            <a:r>
              <a:rPr b="1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caudas gordas</a:t>
            </a: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(</a:t>
            </a:r>
            <a:r>
              <a:rPr b="0" i="1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fat tails</a:t>
            </a: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), não na média.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18778" l="0" r="0" t="0"/>
          <a:stretch/>
        </p:blipFill>
        <p:spPr>
          <a:xfrm>
            <a:off x="1340100" y="424750"/>
            <a:ext cx="6463800" cy="28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/>
          <p:nvPr/>
        </p:nvSpPr>
        <p:spPr>
          <a:xfrm>
            <a:off x="2457300" y="3565800"/>
            <a:ext cx="42294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750"/>
              <a:buFont typeface="Tomorrow SemiBold"/>
              <a:buNone/>
            </a:pPr>
            <a:r>
              <a:rPr lang="en-US" sz="27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Obrigado pela Atenção!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2772450" y="4108800"/>
            <a:ext cx="35991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1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Gabriel Carvalho Siqueira &amp; Pedro Alex Lima Martins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